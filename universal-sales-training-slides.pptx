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4E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73152" cy="3200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🌍 新员工销售培训通用方案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743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FDBFE"/>
                </a:solidFill>
              </a:defRPr>
            </a:pPr>
            <a:r>
              <a:t>Universal New Employee Sales Training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3C5FD"/>
                </a:solidFill>
              </a:defRPr>
            </a:pPr>
            <a:r>
              <a:t>3个月系统培训 · 适用于各行业 · 男女员工通用 · 中英文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3C5FD"/>
                </a:solidFill>
              </a:defRPr>
            </a:pPr>
            <a:r>
              <a:t>3-Month Systematic Training · Any Industry · All Genders · Bilingual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0A5FA"/>
                </a:solidFill>
              </a:defRPr>
            </a:pPr>
            <a:r>
              <a:t>适用于任何新入职的销售人员  /  For any newly hired sales personnel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课程目录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FDBFE"/>
                </a:solidFill>
              </a:defRPr>
            </a:pPr>
            <a:r>
              <a:t>Course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303520" cy="10058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B82F6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00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74151"/>
                </a:solidFill>
              </a:defRPr>
            </a:pPr>
            <a:r>
              <a:t>方案定位与适用范围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11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Purpose and Scope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59" y="1463040"/>
            <a:ext cx="5303520" cy="10058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39" y="16002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B82F6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9" y="1600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74151"/>
                </a:solidFill>
              </a:defRPr>
            </a:pPr>
            <a:r>
              <a:t>培训对象分析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9" y="2011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Trainee Profile Analysis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5303520" cy="10058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8346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B82F6"/>
                </a:solidFill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8346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74151"/>
                </a:solidFill>
              </a:defRPr>
            </a:pPr>
            <a:r>
              <a:t>培训角色分工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246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Training Roles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59" y="2697480"/>
            <a:ext cx="5303520" cy="10058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39" y="28346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B82F6"/>
                </a:solidFill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199" y="28346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74151"/>
                </a:solidFill>
              </a:defRPr>
            </a:pPr>
            <a:r>
              <a:t>三个月培训计划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199" y="3246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Three-Month Training Plan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931920"/>
            <a:ext cx="5303520" cy="10058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690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B82F6"/>
                </a:solidFill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069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74151"/>
                </a:solidFill>
              </a:defRPr>
            </a:pPr>
            <a:r>
              <a:t>培训时间表总览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480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Training Schedule Overview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59" y="3931920"/>
            <a:ext cx="5303520" cy="10058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39" y="40690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B82F6"/>
                </a:solidFill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199" y="4069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74151"/>
                </a:solidFill>
              </a:defRPr>
            </a:pPr>
            <a:r>
              <a:t>考核标准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199" y="4480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Assessment Criteria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166360"/>
            <a:ext cx="5303520" cy="10058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3035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B82F6"/>
                </a:solidFill>
              </a:defRPr>
            </a:pPr>
            <a: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53035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74151"/>
                </a:solidFill>
              </a:defRPr>
            </a:pPr>
            <a:r>
              <a:t>几点提醒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5715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Key Reminders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59" y="5166360"/>
            <a:ext cx="5303520" cy="10058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39" y="53035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B82F6"/>
                </a:solidFill>
              </a:defRPr>
            </a:pPr>
            <a: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199" y="53035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74151"/>
                </a:solidFill>
              </a:defRPr>
            </a:pPr>
            <a:r>
              <a:t>方案调整指南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199" y="5715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Customization Guide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方案定位与适用范围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FDBFE"/>
                </a:solidFill>
              </a:defRPr>
            </a:pPr>
            <a:r>
              <a:t>Purpose and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74151"/>
                </a:solidFill>
              </a:defRPr>
            </a:pPr>
            <a:r>
              <a:t>一套适用于各类企业的通用型新员工销售培训框架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3474720" cy="20116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374151"/>
                </a:solidFill>
              </a:defRPr>
            </a:pPr>
            <a:r>
              <a:t>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51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D4ED8"/>
                </a:solidFill>
              </a:defRPr>
            </a:pPr>
            <a:r>
              <a:t>不针对特定公司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175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Any Company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74151"/>
                </a:solidFill>
              </a:defRPr>
            </a:pPr>
            <a:r>
              <a:t>适用于任何规模、任何类型的企业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2011680"/>
            <a:ext cx="3474720" cy="20116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79" y="21031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374151"/>
                </a:solidFill>
              </a:defRPr>
            </a:pPr>
            <a:r>
              <a:t>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79" y="2651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D4ED8"/>
                </a:solidFill>
              </a:defRPr>
            </a:pPr>
            <a:r>
              <a:t>不针对特定行业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79" y="30175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Any Industry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33832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74151"/>
                </a:solidFill>
              </a:defRPr>
            </a:pPr>
            <a:r>
              <a:t>B2B、B2C、服务业、制造业均可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19" y="2011680"/>
            <a:ext cx="3474720" cy="20116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9" y="21031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374151"/>
                </a:solidFill>
              </a:defRPr>
            </a:pPr>
            <a:r>
              <a:t>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9" y="2651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D4ED8"/>
                </a:solidFill>
              </a:defRPr>
            </a:pPr>
            <a:r>
              <a:t>不区分性别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9" y="30175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Any Gender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9" y="33832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74151"/>
                </a:solidFill>
              </a:defRPr>
            </a:pPr>
            <a:r>
              <a:t>男女员工通用，无性别限制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389120"/>
            <a:ext cx="11064240" cy="20116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480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D4ED8"/>
                </a:solidFill>
              </a:defRPr>
            </a:pPr>
            <a:r>
              <a:t>💡 核心理念 / Core Philosophy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9377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>
                <a:solidFill>
                  <a:srgbClr val="1D4ED8"/>
                </a:solidFill>
              </a:defRPr>
            </a:pPr>
            <a:r>
              <a:t>培训不是走过场，而是让新员工在三个月内完成从「了解」到「能做」再到「能成交」的能力跃迁。</a:t>
            </a:r>
          </a:p>
          <a:p>
            <a:pPr>
              <a:spcAft>
                <a:spcPts val="840"/>
              </a:spcAft>
              <a:defRPr sz="1400">
                <a:solidFill>
                  <a:srgbClr val="1D4ED8"/>
                </a:solidFill>
              </a:defRPr>
            </a:pPr>
            <a:r>
              <a:t>培训成功的标准不是短期的业绩数字，而是新员工能否独立面对客户、知道该做什么、遇到问题知道怎么解决。</a:t>
            </a:r>
          </a:p>
          <a:p>
            <a:pPr>
              <a:spcAft>
                <a:spcPts val="840"/>
              </a:spcAft>
              <a:defRPr sz="1400">
                <a:solidFill>
                  <a:srgbClr val="1D4ED8"/>
                </a:solidFill>
              </a:defRPr>
            </a:pPr>
            <a:r>
              <a:t>Training is not a formality. The goal is to move from 'understanding' to 'doing' to 'closing' — building capability, not just numbers.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培训对象分析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FDBFE"/>
                </a:solidFill>
              </a:defRPr>
            </a:pPr>
            <a:r>
              <a:t>Trainee Profile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培训前必须客观评估新员工的优势和短板，量身定制培训重点，不要一刀切。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474720" cy="54864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有行业经验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77440"/>
            <a:ext cx="3474720" cy="3657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</a:defRPr>
            </a:pPr>
            <a:r>
              <a:t>Industry Experience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74151"/>
                </a:solidFill>
              </a:defRPr>
            </a:pPr>
            <a:r>
              <a:t>熟悉行业运作，有客户沟通能力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47857"/>
                </a:solidFill>
              </a:defRPr>
            </a:pPr>
            <a:r>
              <a:t>重点：快速熟悉本公司产品线、流程、文化</a:t>
            </a:r>
            <a:br/>
            <a:r>
              <a:t>Month 1 可压缩，快速进入实战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1828800"/>
            <a:ext cx="3474720" cy="54864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79" y="187451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无销售经验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79" y="2377440"/>
            <a:ext cx="3474720" cy="3657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79" y="24688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</a:defRPr>
            </a:pPr>
            <a:r>
              <a:t>No Sales Experience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2834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74151"/>
                </a:solidFill>
              </a:defRPr>
            </a:pPr>
            <a:r>
              <a:t>应届毕业生或内部转岗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347472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2400E"/>
                </a:solidFill>
              </a:defRPr>
            </a:pPr>
            <a:r>
              <a:t>从零开始学习：开口沟通、引导需求、处理异议</a:t>
            </a:r>
            <a:br/>
            <a:r>
              <a:t>需完整走完三个月，不能跳步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19" y="1828800"/>
            <a:ext cx="347472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9" y="187451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有公司经验</a:t>
            </a:r>
            <a:br/>
            <a:r>
              <a:t>无销售经验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19" y="2377440"/>
            <a:ext cx="3474720" cy="3657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9" y="24688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</a:defRPr>
            </a:pPr>
            <a:r>
              <a:t>Company Knowledge</a:t>
            </a:r>
            <a:br/>
            <a:r>
              <a:t>No Sales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9" y="2834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74151"/>
                </a:solidFill>
              </a:defRPr>
            </a:pPr>
            <a:r>
              <a:t>内部转岗，已熟悉产品和流程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9" y="347472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B82F6"/>
                </a:solidFill>
              </a:defRPr>
            </a:pPr>
            <a:r>
              <a:t>产品关已过，重点集中在：</a:t>
            </a:r>
            <a:br/>
            <a:r>
              <a:t>销售技巧、市场认知、客户心理、心态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1996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D4ED8"/>
                </a:solidFill>
              </a:defRPr>
            </a:pPr>
            <a:r>
              <a:t>⚡ 无论哪类新员工，都要根据起点调整节奏 / Adjust pace based on starting point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培训角色分工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FDBFE"/>
                </a:solidFill>
              </a:defRPr>
            </a:pPr>
            <a:r>
              <a:t>Training Roles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一套完整的销售培训体系需要三个角色协同推进，各司其职。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474720" cy="640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培训负责人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Training Lead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68880"/>
            <a:ext cx="347472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963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D4ED8"/>
                </a:solidFill>
              </a:defRPr>
            </a:pPr>
            <a:r>
              <a:t>统筹规划与系统培训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26080"/>
            <a:ext cx="34747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1089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74151"/>
                </a:solidFill>
              </a:defRPr>
            </a:pPr>
            <a:r>
              <a:t>• 协助管理层统筹培训落地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947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74151"/>
                </a:solidFill>
              </a:defRPr>
            </a:pPr>
            <a:r>
              <a:t>• 销售心理学 · 沟通技巧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805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74151"/>
                </a:solidFill>
              </a:defRPr>
            </a:pPr>
            <a:r>
              <a:t>• 职业素养 · 心态建设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1663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74151"/>
                </a:solidFill>
              </a:defRPr>
            </a:pPr>
            <a:r>
              <a:t>• 每周一对一谈话+案例讨论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79" y="1828800"/>
            <a:ext cx="3474720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79" y="187451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带教导师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79" y="21945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Mentor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79" y="2468880"/>
            <a:ext cx="347472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79" y="24963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定期实战指导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79" y="2926080"/>
            <a:ext cx="34747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59" y="31089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74151"/>
                </a:solidFill>
              </a:defRPr>
            </a:pPr>
            <a:r>
              <a:t>• 资深销售担任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59" y="37947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74151"/>
                </a:solidFill>
              </a:defRPr>
            </a:pPr>
            <a:r>
              <a:t>• 定期带跑客户，密集观察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59" y="44805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74151"/>
                </a:solidFill>
              </a:defRPr>
            </a:pPr>
            <a:r>
              <a:t>• 复盘分享：为什么这样做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59" y="51663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74151"/>
                </a:solidFill>
              </a:defRPr>
            </a:pPr>
            <a:r>
              <a:t>• 不需要天天在，定期过来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19" y="1828800"/>
            <a:ext cx="3474720" cy="64008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19" y="187451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业务同事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19" y="21945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Buddy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19" y="2468880"/>
            <a:ext cx="347472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19" y="24963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47857"/>
                </a:solidFill>
              </a:defRPr>
            </a:pPr>
            <a:r>
              <a:t>日常陪伴与支持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19" y="2926080"/>
            <a:ext cx="34747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9" y="31089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74151"/>
                </a:solidFill>
              </a:defRPr>
            </a:pPr>
            <a:r>
              <a:t>• 同一区域/团队，日常在场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9" y="37947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74151"/>
                </a:solidFill>
              </a:defRPr>
            </a:pPr>
            <a:r>
              <a:t>• 技术/产品层面支撑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599" y="44805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74151"/>
                </a:solidFill>
              </a:defRPr>
            </a:pPr>
            <a:r>
              <a:t>• 陪同拜访→逐步放手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599" y="51663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74151"/>
                </a:solidFill>
              </a:defRPr>
            </a:pPr>
            <a:r>
              <a:t>• 随时可及，可靠依靠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三个月培训计划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FDBFE"/>
                </a:solidFill>
              </a:defRPr>
            </a:pPr>
            <a:r>
              <a:t>Three-Month Training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3474720" cy="5943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990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第一个月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6420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Month 1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79" y="1371600"/>
            <a:ext cx="3474720" cy="5943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79" y="13990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</a:defRPr>
            </a:pPr>
            <a:r>
              <a:t>第二个月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79" y="166420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</a:defRPr>
            </a:pPr>
            <a:r>
              <a:t>Month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19" y="1371600"/>
            <a:ext cx="3474720" cy="5943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9" y="13990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</a:defRPr>
            </a:pPr>
            <a:r>
              <a:t>第三个月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166420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</a:defRPr>
            </a:pPr>
            <a:r>
              <a:t>Month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194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D4ED8"/>
                </a:solidFill>
              </a:defRPr>
            </a:pPr>
            <a:r>
              <a:t>打基础——从「知道」到「会做」  /  Building the Foundation — From 'Knowing' to 'Doing'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743200"/>
            <a:ext cx="2560320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8803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带教导师 / Mentor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0" y="2743200"/>
            <a:ext cx="8503920" cy="914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2834640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151"/>
                </a:solidFill>
              </a:defRPr>
            </a:pPr>
            <a:r>
              <a:t>定期过来，带新员工跑客户，密集观察成熟销售全流程。跑完复盘：为什么这样说？客户什么时候开始感兴趣？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794760"/>
            <a:ext cx="2560320" cy="9144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9319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业务同事 / Buddy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0" y="3794760"/>
            <a:ext cx="8503920" cy="914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3886200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151"/>
                </a:solidFill>
              </a:defRPr>
            </a:pPr>
            <a:r>
              <a:t>日常带做基础工作：整理客户资料、看档案、记录拜访信息。带新员工拜访，从旁观察，逐步尝试简单介绍。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846320"/>
            <a:ext cx="2560320" cy="914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9834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培训负责人 / Lead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08960" y="4846320"/>
            <a:ext cx="8503920" cy="914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0" y="4937760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151"/>
                </a:solidFill>
              </a:defRPr>
            </a:pPr>
            <a:r>
              <a:t>每周一对一谈话：建立销售思维框架（客户买的不是产品，是解决方案）；教提问技巧；帮建立自信。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989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D4ED8"/>
                </a:solidFill>
              </a:defRPr>
            </a:pPr>
            <a:r>
              <a:t>✅ 检验标准：能复述完整拜访流程、说出客户需求痛点、独立做产品介绍、熟悉产品知识和流程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三个月培训计划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FDBFE"/>
                </a:solidFill>
              </a:defRPr>
            </a:pPr>
            <a:r>
              <a:t>Three-Month Training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3474720" cy="5943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990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</a:defRPr>
            </a:pPr>
            <a:r>
              <a:t>第一个月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6420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</a:defRPr>
            </a:pPr>
            <a:r>
              <a:t>Month 1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79" y="1371600"/>
            <a:ext cx="3474720" cy="5943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79" y="13990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第二个月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79" y="166420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Month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19" y="1371600"/>
            <a:ext cx="3474720" cy="5943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9" y="13990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</a:defRPr>
            </a:pPr>
            <a:r>
              <a:t>第三个月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166420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</a:defRPr>
            </a:pPr>
            <a:r>
              <a:t>Month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194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D4ED8"/>
                </a:solidFill>
              </a:defRPr>
            </a:pPr>
            <a:r>
              <a:t>跟实战——从「会看」到「能说」  /  Hands-on Practice — From 'Watching' to 'Speaking'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743200"/>
            <a:ext cx="2560320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8803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带教导师 / Mentor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0" y="2743200"/>
            <a:ext cx="8503920" cy="914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2834640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151"/>
                </a:solidFill>
              </a:defRPr>
            </a:pPr>
            <a:r>
              <a:t>半接手模式：导师负责开场建立关系，新员工负责产品介绍和报价。有老同事兜底，真实场景中练习。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794760"/>
            <a:ext cx="2560320" cy="9144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9319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业务同事 / Buddy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0" y="3794760"/>
            <a:ext cx="8503920" cy="914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3886200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151"/>
                </a:solidFill>
              </a:defRPr>
            </a:pPr>
            <a:r>
              <a:t>放手让新员工独立拜访（同事在旁或外面等，但沟通由新员工主导）。「你做我看，做完聊」是最有效的方法。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846320"/>
            <a:ext cx="2560320" cy="914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9834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培训负责人 / Lead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08960" y="4846320"/>
            <a:ext cx="8503920" cy="914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0" y="4937760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151"/>
                </a:solidFill>
              </a:defRPr>
            </a:pPr>
            <a:r>
              <a:t>每周实战案例讨论：带当周真实案例来，一起拆解。教客户管理：客户分级、拜访计划、记录跟进。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989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D4ED8"/>
                </a:solidFill>
              </a:defRPr>
            </a:pPr>
            <a:r>
              <a:t>✅ 检验标准：独立完成客户拜访和跟进，重要客户承担一半沟通，客户反馈正面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三个月培训计划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FDBFE"/>
                </a:solidFill>
              </a:defRPr>
            </a:pPr>
            <a:r>
              <a:t>Three-Month Training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3474720" cy="5943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990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</a:defRPr>
            </a:pPr>
            <a:r>
              <a:t>第一个月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6420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</a:defRPr>
            </a:pPr>
            <a:r>
              <a:t>Month 1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79" y="1371600"/>
            <a:ext cx="3474720" cy="5943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79" y="13990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</a:defRPr>
            </a:pPr>
            <a:r>
              <a:t>第二个月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79" y="166420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</a:defRPr>
            </a:pPr>
            <a:r>
              <a:t>Month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19" y="1371600"/>
            <a:ext cx="3474720" cy="5943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9" y="13990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第三个月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166420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Month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194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D4ED8"/>
                </a:solidFill>
              </a:defRPr>
            </a:pPr>
            <a:r>
              <a:t>独立跑——从「能说」到「能成交」  /  Independent Operation — From 'Speaking' to 'Closing'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743200"/>
            <a:ext cx="2560320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8803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带教导师 / Mentor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0" y="2743200"/>
            <a:ext cx="8503920" cy="914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2834640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151"/>
                </a:solidFill>
              </a:defRPr>
            </a:pPr>
            <a:r>
              <a:t>观察新员工独立拜访状态，给更高阶建议。带去看标杆客户，见识大客户怎么维护——看到标杆在哪里。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794760"/>
            <a:ext cx="2560320" cy="9144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9319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业务同事 / Buddy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0" y="3794760"/>
            <a:ext cx="8503920" cy="914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3886200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151"/>
                </a:solidFill>
              </a:defRPr>
            </a:pPr>
            <a:r>
              <a:t>常规客户完全放手，新员工独立负责全流程。不再陪同，但每天聊聊拜访情况。重要客户角色反转：新员工主导。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846320"/>
            <a:ext cx="2560320" cy="914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9834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培训负责人 / Lead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08960" y="4846320"/>
            <a:ext cx="8503920" cy="9144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0" y="4937760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151"/>
                </a:solidFill>
              </a:defRPr>
            </a:pPr>
            <a:r>
              <a:t>帮做总结和提升：回顾三个月、最大进步、不足、下一步。帮建立属于自己的销售方法论，形成独特风格。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989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D4ED8"/>
                </a:solidFill>
              </a:defRPr>
            </a:pPr>
            <a:r>
              <a:t>✅ 检验标准：常规客户独立管理零投诉，重要客户主导沟通获认可，独立制定周计划，清晰自我认知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培训时间表总览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FDBFE"/>
                </a:solidFill>
              </a:defRPr>
            </a:pPr>
            <a:r>
              <a:t>Training Schedule Overview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7160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560320"/>
                <a:gridCol w="2560320"/>
                <a:gridCol w="2560320"/>
                <a:gridCol w="2560320"/>
              </a:tblGrid>
              <a:tr h="5029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时间</a:t>
                      </a:r>
                    </a:p>
                    <a:p>
                      <a:r>
                        <a:t>Period</a:t>
                      </a:r>
                    </a:p>
                  </a:txBody>
                  <a:tcPr anchor="ctr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带教导师</a:t>
                      </a:r>
                    </a:p>
                    <a:p>
                      <a:r>
                        <a:t>Mentor</a:t>
                      </a:r>
                    </a:p>
                  </a:txBody>
                  <a:tcPr anchor="ctr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业务同事</a:t>
                      </a:r>
                    </a:p>
                    <a:p>
                      <a:r>
                        <a:t>Buddy</a:t>
                      </a:r>
                    </a:p>
                  </a:txBody>
                  <a:tcPr anchor="ctr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培训负责人</a:t>
                      </a:r>
                    </a:p>
                    <a:p>
                      <a:r>
                        <a:t>Lead</a:t>
                      </a:r>
                    </a:p>
                  </a:txBody>
                  <a:tcPr anchor="ctr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新员工目标</a:t>
                      </a:r>
                    </a:p>
                    <a:p>
                      <a:r>
                        <a:t>Trainee Target</a:t>
                      </a:r>
                    </a:p>
                  </a:txBody>
                  <a:tcPr anchor="ctr">
                    <a:solidFill>
                      <a:srgbClr val="3B82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</a:defRPr>
                      </a:pPr>
                      <a:r>
                        <a:t>第1-2周</a:t>
                      </a:r>
                    </a:p>
                    <a:p>
                      <a:r>
                        <a:t>W1-2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</a:defRPr>
                      </a:pPr>
                      <a:r>
                        <a:t>定期过来，带跑客户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</a:defRPr>
                      </a:pPr>
                      <a:r>
                        <a:t>日常陪伴，带看客户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</a:defRPr>
                      </a:pPr>
                      <a:r>
                        <a:t>销售思维+提问技巧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</a:defRPr>
                      </a:pPr>
                      <a:r>
                        <a:t>能复述拜访流程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</a:defRPr>
                      </a:pPr>
                      <a:r>
                        <a:t>第3-4周</a:t>
                      </a:r>
                    </a:p>
                    <a:p>
                      <a:r>
                        <a:t>W3-4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</a:defRPr>
                      </a:pPr>
                      <a:r>
                        <a:t>定期过来，带跑+复盘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</a:defRPr>
                      </a:pPr>
                      <a:r>
                        <a:t>日常陪伴，产品/流程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</a:defRPr>
                      </a:pPr>
                      <a:r>
                        <a:t>沟通技巧+自信建设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</a:defRPr>
                      </a:pPr>
                      <a:r>
                        <a:t>能独立做产品介绍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 gridSpan="5"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D4ED8"/>
                          </a:solidFill>
                        </a:defRPr>
                      </a:pPr>
                      <a:r>
                        <a:t>✅ 第一个月检验：能独立做产品介绍和客户拜访，熟悉产品知识和流程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</a:defRPr>
                      </a:pPr>
                      <a:r>
                        <a:t>第5-6周</a:t>
                      </a:r>
                    </a:p>
                    <a:p>
                      <a:r>
                        <a:t>W5-6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</a:defRPr>
                      </a:pPr>
                      <a:r>
                        <a:t>定期过来，半接手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</a:defRPr>
                      </a:pPr>
                      <a:r>
                        <a:t>半放手，新员工主导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</a:defRPr>
                      </a:pPr>
                      <a:r>
                        <a:t>案例拆解+异议处理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</a:defRPr>
                      </a:pPr>
                      <a:r>
                        <a:t>常规客户独立拜访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</a:defRPr>
                      </a:pPr>
                      <a:r>
                        <a:t>第7-8周</a:t>
                      </a:r>
                    </a:p>
                    <a:p>
                      <a:r>
                        <a:t>W7-8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</a:defRPr>
                      </a:pPr>
                      <a:r>
                        <a:t>定期过来，协助复盘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</a:defRPr>
                      </a:pPr>
                      <a:r>
                        <a:t>放手常规，陪同重要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</a:defRPr>
                      </a:pPr>
                      <a:r>
                        <a:t>客户管理+报价技巧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</a:defRPr>
                      </a:pPr>
                      <a:r>
                        <a:t>重要客户承担一半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502920">
                <a:tc gridSpan="5"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D4ED8"/>
                          </a:solidFill>
                        </a:defRPr>
                      </a:pPr>
                      <a:r>
                        <a:t>✅ 第二个月检验：常规客户独立管理，重要客户配合拜访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</a:defRPr>
                      </a:pPr>
                      <a:r>
                        <a:t>第9-10周</a:t>
                      </a:r>
                    </a:p>
                    <a:p>
                      <a:r>
                        <a:t>W9-10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</a:defRPr>
                      </a:pPr>
                      <a:r>
                        <a:t>定期过来，观察+建议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</a:defRPr>
                      </a:pPr>
                      <a:r>
                        <a:t>新员工主导，同事配合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</a:defRPr>
                      </a:pPr>
                      <a:r>
                        <a:t>谈判技巧+成交促成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</a:defRPr>
                      </a:pPr>
                      <a:r>
                        <a:t>常规客户成交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</a:defRPr>
                      </a:pPr>
                      <a:r>
                        <a:t>第11-12周</a:t>
                      </a:r>
                    </a:p>
                    <a:p>
                      <a:r>
                        <a:t>W11-12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</a:defRPr>
                      </a:pPr>
                      <a:r>
                        <a:t>定期过来，带看标杆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</a:defRPr>
                      </a:pPr>
                      <a:r>
                        <a:t>日常支持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</a:defRPr>
                      </a:pPr>
                      <a:r>
                        <a:t>三个月总结+规划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74151"/>
                          </a:solidFill>
                        </a:defRPr>
                      </a:pPr>
                      <a:r>
                        <a:t>完整独立销售能力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 gridSpan="5"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D4ED8"/>
                          </a:solidFill>
                        </a:defRPr>
                      </a:pPr>
                      <a:r>
                        <a:t>✅ 第三个月检验：常规客户独立管理，重要客户主导沟通，独立制定计划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考核标准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FDBFE"/>
                </a:solidFill>
              </a:defRPr>
            </a:pPr>
            <a:r>
              <a:t>Assessment Criteria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培训不是走形式，三个月后要有明确的考核标准。以下标准可根据企业实际情况调整。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2880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5760720"/>
                <a:gridCol w="2743200"/>
              </a:tblGrid>
              <a:tr h="58782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考核项</a:t>
                      </a:r>
                    </a:p>
                    <a:p>
                      <a:r>
                        <a:t>Assessment</a:t>
                      </a:r>
                    </a:p>
                  </a:txBody>
                  <a:tcPr anchor="ctr" marL="73152" marR="73152" marT="36576" marB="36576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合格标准</a:t>
                      </a:r>
                    </a:p>
                    <a:p>
                      <a:r>
                        <a:t>Pass Criteria</a:t>
                      </a:r>
                    </a:p>
                  </a:txBody>
                  <a:tcPr anchor="ctr" marL="73152" marR="73152" marT="36576" marB="36576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考核方式</a:t>
                      </a:r>
                    </a:p>
                    <a:p>
                      <a:r>
                        <a:t>Method</a:t>
                      </a:r>
                    </a:p>
                  </a:txBody>
                  <a:tcPr anchor="ctr" marL="73152" marR="73152" marT="36576" marB="36576">
                    <a:solidFill>
                      <a:srgbClr val="3B82F6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74151"/>
                          </a:solidFill>
                        </a:defRPr>
                      </a:pPr>
                      <a:r>
                        <a:t>产品知识</a:t>
                      </a:r>
                    </a:p>
                    <a:p>
                      <a:r>
                        <a:t>Product Knowledge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74151"/>
                          </a:solidFill>
                        </a:defRPr>
                      </a:pPr>
                      <a:r>
                        <a:t>能独立做完整产品介绍，回答客户常见技术问题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74151"/>
                          </a:solidFill>
                        </a:defRPr>
                      </a:pPr>
                      <a:r>
                        <a:t>现场评估</a:t>
                      </a:r>
                    </a:p>
                    <a:p>
                      <a:r>
                        <a:t>On-site evaluation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74151"/>
                          </a:solidFill>
                        </a:defRPr>
                      </a:pPr>
                      <a:r>
                        <a:t>常规客户管理</a:t>
                      </a:r>
                    </a:p>
                    <a:p>
                      <a:r>
                        <a:t>Regular Client Mgmt</a:t>
                      </a:r>
                    </a:p>
                  </a:txBody>
                  <a:tcPr anchor="ctr"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74151"/>
                          </a:solidFill>
                        </a:defRPr>
                      </a:pPr>
                      <a:r>
                        <a:t>独立负责至少10家常规客户，零投诉，每月完成拜访计划</a:t>
                      </a:r>
                    </a:p>
                  </a:txBody>
                  <a:tcPr anchor="ctr"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74151"/>
                          </a:solidFill>
                        </a:defRPr>
                      </a:pPr>
                      <a:r>
                        <a:t>客户反馈+拜访记录</a:t>
                      </a:r>
                    </a:p>
                    <a:p>
                      <a:r>
                        <a:t>Feedback + records</a:t>
                      </a:r>
                    </a:p>
                  </a:txBody>
                  <a:tcPr anchor="ctr" marL="73152" marR="73152" marT="36576" marB="36576">
                    <a:solidFill>
                      <a:srgbClr val="F3F4F6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74151"/>
                          </a:solidFill>
                        </a:defRPr>
                      </a:pPr>
                      <a:r>
                        <a:t>重要客户配合</a:t>
                      </a:r>
                    </a:p>
                    <a:p>
                      <a:r>
                        <a:t>Key Client Support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74151"/>
                          </a:solidFill>
                        </a:defRPr>
                      </a:pPr>
                      <a:r>
                        <a:t>能在老同事陪同下主导沟通，客户正面反馈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74151"/>
                          </a:solidFill>
                        </a:defRPr>
                      </a:pPr>
                      <a:r>
                        <a:t>同事反馈+客户反馈</a:t>
                      </a:r>
                    </a:p>
                    <a:p>
                      <a:r>
                        <a:t>Peer + client feedback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74151"/>
                          </a:solidFill>
                        </a:defRPr>
                      </a:pPr>
                      <a:r>
                        <a:t>客户管理</a:t>
                      </a:r>
                    </a:p>
                    <a:p>
                      <a:r>
                        <a:t>Client Management</a:t>
                      </a:r>
                    </a:p>
                  </a:txBody>
                  <a:tcPr anchor="ctr"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74151"/>
                          </a:solidFill>
                        </a:defRPr>
                      </a:pPr>
                      <a:r>
                        <a:t>能独立完成客户档案记录、制定周拜访计划、做好跟进</a:t>
                      </a:r>
                    </a:p>
                  </a:txBody>
                  <a:tcPr anchor="ctr"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74151"/>
                          </a:solidFill>
                        </a:defRPr>
                      </a:pPr>
                      <a:r>
                        <a:t>记录检查</a:t>
                      </a:r>
                    </a:p>
                    <a:p>
                      <a:r>
                        <a:t>Records check</a:t>
                      </a:r>
                    </a:p>
                  </a:txBody>
                  <a:tcPr anchor="ctr" marL="73152" marR="73152" marT="36576" marB="36576">
                    <a:solidFill>
                      <a:srgbClr val="F3F4F6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74151"/>
                          </a:solidFill>
                        </a:defRPr>
                      </a:pPr>
                      <a:r>
                        <a:t>沟通能力</a:t>
                      </a:r>
                    </a:p>
                    <a:p>
                      <a:r>
                        <a:t>Communication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74151"/>
                          </a:solidFill>
                        </a:defRPr>
                      </a:pPr>
                      <a:r>
                        <a:t>能独立完成客户拜访，从开场到收尾流程完整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74151"/>
                          </a:solidFill>
                        </a:defRPr>
                      </a:pPr>
                      <a:r>
                        <a:t>陪同观察+复盘</a:t>
                      </a:r>
                    </a:p>
                    <a:p>
                      <a:r>
                        <a:t>Observation + debrief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74151"/>
                          </a:solidFill>
                        </a:defRPr>
                      </a:pPr>
                      <a:r>
                        <a:t>职业素养</a:t>
                      </a:r>
                    </a:p>
                    <a:p>
                      <a:r>
                        <a:t>Professionalism</a:t>
                      </a:r>
                    </a:p>
                  </a:txBody>
                  <a:tcPr anchor="ctr"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74151"/>
                          </a:solidFill>
                        </a:defRPr>
                      </a:pPr>
                      <a:r>
                        <a:t>时间观念强、主动汇报、遇到问题不逃避、能寻求帮助</a:t>
                      </a:r>
                    </a:p>
                  </a:txBody>
                  <a:tcPr anchor="ctr"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74151"/>
                          </a:solidFill>
                        </a:defRPr>
                      </a:pPr>
                      <a:r>
                        <a:t>三方综合评估</a:t>
                      </a:r>
                    </a:p>
                    <a:p>
                      <a:r>
                        <a:t>Tri-party evaluation</a:t>
                      </a:r>
                    </a:p>
                  </a:txBody>
                  <a:tcPr anchor="ctr" marL="73152" marR="73152" marT="36576" marB="36576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035040"/>
            <a:ext cx="11064240" cy="6400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080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D4ED8"/>
                </a:solidFill>
              </a:defRPr>
            </a:pPr>
            <a:r>
              <a:t>💡 考核不是为了卡人，而是帮新员工看清成长和不足。不达标不是淘汰，而是针对性地加强培训。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几点提醒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FDBFE"/>
                </a:solidFill>
              </a:defRPr>
            </a:pPr>
            <a:r>
              <a:t>Key Reminders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74151"/>
                </a:solidFill>
              </a:defRPr>
            </a:pPr>
            <a:r>
              <a:t>培训方案能否落地，取决于三方各司其职：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2743200" cy="10515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带教导师 / Mentor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828800"/>
            <a:ext cx="8321040" cy="1051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92024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</a:defRPr>
            </a:pPr>
            <a:r>
              <a:t>定期过来，把经验分享出来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33172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151"/>
                </a:solidFill>
              </a:defRPr>
            </a:pPr>
            <a:r>
              <a:t>跑完客户多聊聊，让新员工理解「为什么这样做」，而不只是「看到了什么」。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63240"/>
            <a:ext cx="2743200" cy="105156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3375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业务同事 / Buddy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3063240"/>
            <a:ext cx="8321040" cy="1051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315468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47857"/>
                </a:solidFill>
              </a:defRPr>
            </a:pPr>
            <a:r>
              <a:t>日常陪伴，逐步放手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56616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151"/>
                </a:solidFill>
              </a:defRPr>
            </a:pPr>
            <a:r>
              <a:t>不要一直帮新员工做，而是刻意推动从「跟着看」到「自己试」再到「独立做」。把技术能力传递下去。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297680"/>
            <a:ext cx="2743200" cy="10515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5720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培训负责人 / Lead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4297680"/>
            <a:ext cx="8321040" cy="1051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438912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D4ED8"/>
                </a:solidFill>
              </a:defRPr>
            </a:pPr>
            <a:r>
              <a:t>帮新员工建立销售思维框架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80060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74151"/>
                </a:solidFill>
              </a:defRPr>
            </a:pPr>
            <a:r>
              <a:t>技术可以在工作中积累，但面对客户的心态、处理压力的能力、销售方法论，需要有人专门引导。每周一对一谈话是核心引擎。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623560"/>
            <a:ext cx="11064240" cy="10058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4ED8"/>
                </a:solidFill>
              </a:defRPr>
            </a:pPr>
            <a:r>
              <a:t>🎯 培训成功的标准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080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D4ED8"/>
                </a:solidFill>
              </a:defRPr>
            </a:pPr>
            <a:r>
              <a:t>不是三个月后能做多少业绩，而是新员工能否独立面对客户、知道该做什么、遇到问题知道怎么求助。能力才是培训的目标。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方案调整指南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FDBFE"/>
                </a:solidFill>
              </a:defRPr>
            </a:pPr>
            <a:r>
              <a:t>Customization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本方案是通用框架，企业在实际使用时需要根据自身情况调整：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2880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321040"/>
              </a:tblGrid>
              <a:tr h="6858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调整项</a:t>
                      </a:r>
                    </a:p>
                    <a:p>
                      <a:r>
                        <a:t>Parameter</a:t>
                      </a:r>
                    </a:p>
                  </a:txBody>
                  <a:tcPr anchor="ctr" marL="73152" marR="73152" marT="36576" marB="36576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说明</a:t>
                      </a:r>
                    </a:p>
                    <a:p>
                      <a:r>
                        <a:t>Guidance</a:t>
                      </a:r>
                    </a:p>
                  </a:txBody>
                  <a:tcPr anchor="ctr" marL="73152" marR="73152" marT="36576" marB="36576">
                    <a:solidFill>
                      <a:srgbClr val="3B82F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74151"/>
                          </a:solidFill>
                        </a:defRPr>
                      </a:pPr>
                      <a:r>
                        <a:t>培训周期</a:t>
                      </a:r>
                    </a:p>
                    <a:p>
                      <a:r>
                        <a:t>Training Duration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74151"/>
                          </a:solidFill>
                        </a:defRPr>
                      </a:pPr>
                      <a:r>
                        <a:t>标准3个月。有丰富经验可压缩到2个月；完全零基础可延长到4-6个月。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74151"/>
                          </a:solidFill>
                        </a:defRPr>
                      </a:pPr>
                      <a:r>
                        <a:t>客户分级</a:t>
                      </a:r>
                    </a:p>
                    <a:p>
                      <a:r>
                        <a:t>Client Tiering</a:t>
                      </a:r>
                    </a:p>
                  </a:txBody>
                  <a:tcPr anchor="ctr"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74151"/>
                          </a:solidFill>
                        </a:defRPr>
                      </a:pPr>
                      <a:r>
                        <a:t>本方案用「常规/重要/标杆」三级。企业可根据自身客户结构调整分级标准。</a:t>
                      </a:r>
                    </a:p>
                  </a:txBody>
                  <a:tcPr anchor="ctr" marL="73152" marR="73152" marT="36576" marB="36576">
                    <a:solidFill>
                      <a:srgbClr val="F3F4F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74151"/>
                          </a:solidFill>
                        </a:defRPr>
                      </a:pPr>
                      <a:r>
                        <a:t>角色安排</a:t>
                      </a:r>
                    </a:p>
                    <a:p>
                      <a:r>
                        <a:t>Role Assignment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74151"/>
                          </a:solidFill>
                        </a:defRPr>
                      </a:pPr>
                      <a:r>
                        <a:t>小公司可能一人兼任多角色。带教导师和业务同事可以是同一人，但培训负责人最好独立。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74151"/>
                          </a:solidFill>
                        </a:defRPr>
                      </a:pPr>
                      <a:r>
                        <a:t>行业差异</a:t>
                      </a:r>
                    </a:p>
                    <a:p>
                      <a:r>
                        <a:t>Industry Variation</a:t>
                      </a:r>
                    </a:p>
                  </a:txBody>
                  <a:tcPr anchor="ctr"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74151"/>
                          </a:solidFill>
                        </a:defRPr>
                      </a:pPr>
                      <a:r>
                        <a:t>B2B重视关系维护和长周期跟进；B2C重视快速成交和客户体验。根据行业特点调整重点。</a:t>
                      </a:r>
                    </a:p>
                  </a:txBody>
                  <a:tcPr anchor="ctr" marL="73152" marR="73152" marT="36576" marB="36576">
                    <a:solidFill>
                      <a:srgbClr val="F3F4F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74151"/>
                          </a:solidFill>
                        </a:defRPr>
                      </a:pPr>
                      <a:r>
                        <a:t>考核标准</a:t>
                      </a:r>
                    </a:p>
                    <a:p>
                      <a:r>
                        <a:t>Assessment Criteria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74151"/>
                          </a:solidFill>
                        </a:defRPr>
                      </a:pPr>
                      <a:r>
                        <a:t>「10家常规客户」等数字仅供参考，请根据企业实际客户量调整。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035040"/>
            <a:ext cx="11064240" cy="6400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080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D4ED8"/>
                </a:solidFill>
              </a:defRPr>
            </a:pPr>
            <a:r>
              <a:t>📌 通用框架的价值在于提供完整骨架，企业根据自身情况填充血肉，才能真正做到落地。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4E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谢谢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FDBFE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3C5FD"/>
                </a:solidFill>
              </a:defRPr>
            </a:pPr>
            <a:r>
              <a:t>能力才是培训的目标，业绩是水到渠成的事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0A5FA"/>
                </a:solidFill>
              </a:defRPr>
            </a:pPr>
            <a:r>
              <a:t>Capability is the goal. Revenue follows naturally.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0A5FA"/>
                </a:solidFill>
              </a:defRPr>
            </a:pPr>
            <a:r>
              <a:t>🌍 新员工销售培训通用方案 · Universal Sales Training Program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