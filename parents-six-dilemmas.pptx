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74320"/>
            <a:ext cx="1097280" cy="1097280"/>
          </a:xfrm>
          <a:prstGeom prst="ellipse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91440" cy="4114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D2C2E"/>
                </a:solidFill>
              </a:defRPr>
            </a:pPr>
            <a:r>
              <a:t>现代家长的六大困境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你不是一个人在焦虑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亲子教育讲座 · 家长必修课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「小心逆逆」家长大讲堂  /  Frankie Tsang 曾仕昭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111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Shenzhen Frankie Z Style Education Technology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C2E"/>
                </a:solidFill>
              </a:defRPr>
            </a:pPr>
            <a:r>
              <a:t>时代变了，当家长比以前难多了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383280" cy="2743200"/>
          </a:xfrm>
          <a:prstGeom prst="rect">
            <a:avLst/>
          </a:prstGeom>
          <a:solidFill>
            <a:srgbClr val="FC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D2C2E"/>
                </a:solidFill>
              </a:defRPr>
            </a:pPr>
            <a: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2C2E"/>
                </a:solidFill>
              </a:defRPr>
            </a:pPr>
            <a:r>
              <a:t>信息爆炸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育儿信息铺天盖地</a:t>
            </a:r>
            <a:br/>
            <a:r>
              <a:t>方法太多反而不知道听谁的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463040"/>
            <a:ext cx="3383280" cy="27432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D2C2E"/>
                </a:solidFill>
              </a:defRPr>
            </a:pPr>
            <a:r>
              <a:t>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2C2E"/>
                </a:solidFill>
              </a:defRPr>
            </a:pPr>
            <a:r>
              <a:t>竞争激烈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260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别人家孩子报了5个班</a:t>
            </a:r>
            <a:br/>
            <a:r>
              <a:t>我家孩子要不要跟？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383280" cy="2743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459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3D2C2E"/>
                </a:solidFill>
              </a:defRPr>
            </a:pPr>
            <a:r>
              <a:t>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D2C2E"/>
                </a:solidFill>
              </a:defRPr>
            </a:pPr>
            <a:r>
              <a:t>代沟加深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孩子的心思越来越难懂</a:t>
            </a:r>
            <a:br/>
            <a:r>
              <a:t>说多了嫌烦，说少了又怕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🎯 核心问题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D2C2E"/>
                </a:solidFill>
              </a:defRPr>
            </a:pPr>
            <a:r>
              <a:t>不是现在的家长不够努力，而是时代变了，孩子变了，</a:t>
            </a:r>
          </a:p>
          <a:p>
            <a:pPr>
              <a:spcAft>
                <a:spcPts val="800"/>
              </a:spcAft>
              <a:defRPr sz="1600">
                <a:solidFill>
                  <a:srgbClr val="3D2C2E"/>
                </a:solidFill>
              </a:defRPr>
            </a:pPr>
            <a:r>
              <a:t>可我们的教育方法还停留在上一代。</a:t>
            </a:r>
          </a:p>
          <a:p>
            <a:pPr>
              <a:spcAft>
                <a:spcPts val="800"/>
              </a:spcAft>
              <a:defRPr sz="1600">
                <a:solidFill>
                  <a:srgbClr val="3D2C2E"/>
                </a:solidFill>
              </a:defRPr>
            </a:pPr>
            <a:r>
              <a:t>家长需要的不是更多的焦虑，而是专业的引导和有效的方法。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560320" cy="5943600"/>
          </a:xfrm>
          <a:prstGeom prst="rect">
            <a:avLst/>
          </a:prstGeom>
          <a:solidFill>
            <a:srgbClr val="FC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11D48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D2C2E"/>
                </a:solidFill>
              </a:defRPr>
            </a:pPr>
            <a:r>
              <a:t>手机与</a:t>
            </a:r>
            <a:br/>
            <a:r>
              <a:t>屏幕成瘾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Screen Addiction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731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D2C2E"/>
                </a:solidFill>
              </a:defRPr>
            </a:pPr>
            <a:r>
              <a:t>困境一：手机与屏幕成瘾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孩子抱着手机不放，一玩就是几小时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743200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说两句就炸毛：'别人都在玩，凭什么我不能？'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84048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断网就暴躁，没收就翻脸，管了就对抗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937759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家长自己也放不下手机，怎么要求孩子？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943600"/>
            <a:ext cx="7772400" cy="548640"/>
          </a:xfrm>
          <a:prstGeom prst="rect">
            <a:avLst/>
          </a:prstGeom>
          <a:solidFill>
            <a:srgbClr val="FC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</a:defRPr>
            </a:pPr>
            <a:r>
              <a:t>💡 手机不是敌人，缺乏规则和替代方案才是问题的根源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560320" cy="59436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2569EB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D2C2E"/>
                </a:solidFill>
              </a:defRPr>
            </a:pPr>
            <a:r>
              <a:t>亲子沟通</a:t>
            </a:r>
            <a:br/>
            <a:r>
              <a:t>失效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731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D2C2E"/>
                </a:solidFill>
              </a:defRPr>
            </a:pPr>
            <a:r>
              <a:t>困境二：亲子沟通失效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孩子回家就关门，吃饭叫三遍不应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743200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问学校怎么样 → '还行'。问作业做了没 → '做了'。没有第四个字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84048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🗣️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一说就吵，一吵就冷战，冷战完更不说话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937759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家长心里急，但不知道怎么开口才不让孩子反感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943600"/>
            <a:ext cx="7772400" cy="54864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9EB"/>
                </a:solidFill>
              </a:defRPr>
            </a:pPr>
            <a:r>
              <a:t>💡 沟通的门不是孩子关上的，是家长用'质问'和'说教'推上的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560320" cy="5943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59669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D2C2E"/>
                </a:solidFill>
              </a:defRPr>
            </a:pPr>
            <a:r>
              <a:t>情绪管理</a:t>
            </a:r>
            <a:br/>
            <a:r>
              <a:t>失控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Emotion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731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D2C2E"/>
                </a:solidFill>
              </a:defRPr>
            </a:pPr>
            <a:r>
              <a:t>困境三：情绪管理失控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孩子动不动发脾气、摔东西、大哭大闹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743200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家长也压不住火，吼完又后悔，后悔完下次还是吼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84048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孩子焦虑、怕输、玻璃心，一点小事就崩溃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937759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情绪问题像滚雪球：孩子闹 → 家长吼 → 孩子更闹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943600"/>
            <a:ext cx="777240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</a:defRPr>
            </a:pPr>
            <a:r>
              <a:t>💡 情绪不是洪水猛兽，学会识别和表达情绪，比'憋住不发'更重要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560320" cy="59436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7C3AED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D2C2E"/>
                </a:solidFill>
              </a:defRPr>
            </a:pPr>
            <a:r>
              <a:t>学习动力</a:t>
            </a:r>
            <a:br/>
            <a:r>
              <a:t>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Motivation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731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D2C2E"/>
                </a:solidFill>
              </a:defRPr>
            </a:pPr>
            <a:r>
              <a:t>困境四：学习动力不足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催一下动一下，不催就不动，拖拉磨蹭是日常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743200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作业要陪、考试要盯、补习班报了也是白报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84048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孩子对什么都提不起兴趣，'随便'、'还行'、'不知道'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937759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家长比孩子还焦虑：成绩下滑怎么办？考不上好学校怎么办？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943600"/>
            <a:ext cx="7772400" cy="5486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💡 孩子不是不爱学习，是没找到'学习跟我有什么关系'的连接点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560320" cy="5943600"/>
          </a:xfrm>
          <a:prstGeom prst="rect">
            <a:avLst/>
          </a:prstGeom>
          <a:solidFill>
            <a:srgbClr val="FC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11D48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D2C2E"/>
                </a:solidFill>
              </a:defRPr>
            </a:pPr>
            <a:r>
              <a:t>社交与人</a:t>
            </a:r>
            <a:br/>
            <a:r>
              <a:t>际困扰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Social Struggles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731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D2C2E"/>
                </a:solidFill>
              </a:defRPr>
            </a:pPr>
            <a:r>
              <a:t>困境五：社交与人际困扰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孩子在学校被欺负不敢说，回家闷闷不乐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743200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交不到朋友，课间一个人待着，家长心疼但不知怎么帮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84048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孩子太内向：'你怎么不跟小朋友玩？'  太叛逆：'你怎么老跟那些人混？'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937759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校园霸凌、孤立、排挤……这些真实发生的事，家长往往最后一个知道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943600"/>
            <a:ext cx="7772400" cy="548640"/>
          </a:xfrm>
          <a:prstGeom prst="rect">
            <a:avLst/>
          </a:prstGeom>
          <a:solidFill>
            <a:srgbClr val="FC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</a:defRPr>
            </a:pPr>
            <a:r>
              <a:t>💡 孩子不说，不代表不需要帮助。关键是让孩子愿意对你开口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560320" cy="59436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2569EB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D2C2E"/>
                </a:solidFill>
              </a:defRPr>
            </a:pPr>
            <a:r>
              <a:t>家长自身</a:t>
            </a:r>
            <a:br/>
            <a:r>
              <a:t>压力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Parental 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731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D2C2E"/>
                </a:solidFill>
              </a:defRPr>
            </a:pPr>
            <a:r>
              <a:t>困境六：家长自身的压力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工作已经够累了，回家还要辅导作业、处理情绪、做家务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743200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26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夫妻教育理念不合：一个要严管、一个要放养，天天吵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840480"/>
            <a:ext cx="777240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老人插手教育：'我们当年不也这么过来的？'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4937759"/>
            <a:ext cx="7772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D2C2E"/>
                </a:solidFill>
              </a:defRPr>
            </a:pPr>
            <a:r>
              <a:t>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39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D2C2E"/>
                </a:solidFill>
              </a:defRPr>
            </a:pPr>
            <a:r>
              <a:t>家长的崩溃往往不是因为孩子不听话，而是没人理解自己的累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943600"/>
            <a:ext cx="7772400" cy="54864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989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9EB"/>
                </a:solidFill>
              </a:defRPr>
            </a:pPr>
            <a:r>
              <a:t>💡 家长自己也需要被看见、被理解。你不是超人，你只是一个尽力的人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D2C2E"/>
                </a:solidFill>
              </a:defRPr>
            </a:pPr>
            <a:r>
              <a:t>这些困境的根源在哪里？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不是家长不够努力，而是时代变了，旧方法不管用了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时代变了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3383280" cy="32004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D2C2E"/>
                </a:solidFill>
              </a:defRPr>
            </a:pPr>
            <a:r>
              <a:t>信息时代的孩子</a:t>
            </a:r>
            <a:br/>
            <a:r>
              <a:t>成长环境完全不同</a:t>
            </a:r>
            <a:br/>
            <a:r>
              <a:t>用30年前的方法</a:t>
            </a:r>
            <a:br/>
            <a:r>
              <a:t>教今天的孩子</a:t>
            </a:r>
            <a:br/>
            <a:r>
              <a:t>就像用地图</a:t>
            </a:r>
            <a:br/>
            <a:r>
              <a:t>导航GPS时代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3383280" cy="548640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方法断层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560320"/>
            <a:ext cx="3383280" cy="32004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39" y="2743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D2C2E"/>
                </a:solidFill>
              </a:defRPr>
            </a:pPr>
            <a:r>
              <a:t>大多数家长</a:t>
            </a:r>
            <a:br/>
            <a:r>
              <a:t>没有学过怎么当家长</a:t>
            </a:r>
            <a:br/>
            <a:r>
              <a:t>凭感觉、凭经验、</a:t>
            </a:r>
            <a:br/>
            <a:r>
              <a:t>凭上一辈的传承</a:t>
            </a:r>
            <a:br/>
            <a:r>
              <a:t>遇到问题只能</a:t>
            </a:r>
            <a:br/>
            <a:r>
              <a:t>百度一下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3383280" cy="548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57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支持缺失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560320"/>
            <a:ext cx="3383280" cy="3200400"/>
          </a:xfrm>
          <a:prstGeom prst="rect">
            <a:avLst/>
          </a:prstGeom>
          <a:solidFill>
            <a:srgbClr val="FC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D2C2E"/>
                </a:solidFill>
              </a:defRPr>
            </a:pPr>
            <a:r>
              <a:t>学校教知识</a:t>
            </a:r>
            <a:br/>
            <a:r>
              <a:t>不教怎么当家长</a:t>
            </a:r>
            <a:br/>
            <a:r>
              <a:t>社会有各种焦虑</a:t>
            </a:r>
            <a:br/>
            <a:r>
              <a:t>却少有专业支持</a:t>
            </a:r>
            <a:br/>
            <a:r>
              <a:t>家长独自面对</a:t>
            </a:r>
            <a:br/>
            <a:r>
              <a:t>所有育儿难题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9893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家长需要的不是指责「你怎么当家长的」，而是专业引导「你可以这样试试」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D2C2E"/>
                </a:solidFill>
              </a:defRPr>
            </a:pPr>
            <a:r>
              <a:t>我们能做什么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</a:defRPr>
            </a:pPr>
            <a:r>
              <a:t>「小心逆逆」家长大讲堂 — 帮你读懂孩子、改善沟通、找到方法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060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D2C2E"/>
                </a:solidFill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97316"/>
                </a:solidFill>
              </a:defRPr>
            </a:pPr>
            <a:r>
              <a:t>心理学视角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用专业心理学知识</a:t>
            </a:r>
            <a:br/>
            <a:r>
              <a:t>解读孩子的行为背后</a:t>
            </a:r>
            <a:br/>
            <a:r>
              <a:t>真正的需求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64592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645920"/>
            <a:ext cx="2606040" cy="54864"/>
          </a:xfrm>
          <a:prstGeom prst="rect">
            <a:avLst/>
          </a:prstGeom>
          <a:solidFill>
            <a:srgbClr val="0D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D2C2E"/>
                </a:solidFill>
              </a:defRPr>
            </a:pPr>
            <a: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468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B"/>
                </a:solidFill>
              </a:defRPr>
            </a:pPr>
            <a:r>
              <a:t>沟通方法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0175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不是讲道理，而是</a:t>
            </a:r>
            <a:br/>
            <a:r>
              <a:t>教会家长怎么说</a:t>
            </a:r>
            <a:br/>
            <a:r>
              <a:t>孩子才愿意听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64592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645920"/>
            <a:ext cx="260604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D2C2E"/>
                </a:solidFill>
              </a:defRPr>
            </a:pPr>
            <a: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11D48"/>
                </a:solidFill>
              </a:defRPr>
            </a:pPr>
            <a:r>
              <a:t>实用工具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具体到每一句话</a:t>
            </a:r>
            <a:br/>
            <a:r>
              <a:t>每一个场景</a:t>
            </a:r>
            <a:br/>
            <a:r>
              <a:t>回家就能用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645920"/>
            <a:ext cx="260604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645920"/>
            <a:ext cx="2606040" cy="54864"/>
          </a:xfrm>
          <a:prstGeom prst="rect">
            <a:avLst/>
          </a:prstGeom>
          <a:solidFill>
            <a:srgbClr val="256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82880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D2C2E"/>
                </a:solidFill>
              </a:defRPr>
            </a:pPr>
            <a:r>
              <a:t>👨‍👩‍👧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688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9EB"/>
                </a:solidFill>
              </a:defRPr>
            </a:pPr>
            <a:r>
              <a:t>亲子互动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0175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不只是听课</a:t>
            </a:r>
            <a:br/>
            <a:r>
              <a:t>更是亲子一起</a:t>
            </a:r>
            <a:br/>
            <a:r>
              <a:t>参与和成长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📋 课程信息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3D2C2E"/>
                </a:solidFill>
              </a:defRPr>
            </a:pPr>
            <a:r>
              <a:t>主讲人：Frankie Tsang 曾仕昭 — 28+年经验 · 国家二级心理咨询师 · NGH催眠治疗师</a:t>
            </a:r>
          </a:p>
          <a:p>
            <a:pPr>
              <a:spcAft>
                <a:spcPts val="700"/>
              </a:spcAft>
              <a:defRPr sz="1400">
                <a:solidFill>
                  <a:srgbClr val="3D2C2E"/>
                </a:solidFill>
              </a:defRPr>
            </a:pPr>
            <a:r>
              <a:t>形式：线下讲座 / 互动工作坊 / 线上直播（可按需求定制）</a:t>
            </a:r>
          </a:p>
          <a:p>
            <a:pPr>
              <a:spcAft>
                <a:spcPts val="700"/>
              </a:spcAft>
              <a:defRPr sz="1400">
                <a:solidFill>
                  <a:srgbClr val="3D2C2E"/>
                </a:solidFill>
              </a:defRPr>
            </a:pPr>
            <a:r>
              <a:t>对象：3-16岁孩子家长、幼儿园/学校家长会、社区活动</a:t>
            </a:r>
          </a:p>
          <a:p>
            <a:pPr>
              <a:spcAft>
                <a:spcPts val="700"/>
              </a:spcAft>
              <a:defRPr sz="1400">
                <a:solidFill>
                  <a:srgbClr val="3D2C2E"/>
                </a:solidFill>
              </a:defRPr>
            </a:pPr>
            <a:r>
              <a:t>联系：Shenzhen Frankie Z Style Education Technology Co., Ltd.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4572000"/>
            <a:ext cx="2743200" cy="2743200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274320"/>
            <a:ext cx="1371600" cy="1371600"/>
          </a:xfrm>
          <a:prstGeom prst="ellipse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097280"/>
            <a:ext cx="94183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097280"/>
            <a:ext cx="91440" cy="4572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D2C2E"/>
                </a:solidFill>
              </a:defRPr>
            </a:pPr>
            <a:r>
              <a:t>孩子优秀不是梦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</a:defRPr>
            </a:pPr>
            <a:r>
              <a:t>从理解开始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每个孩子都是一颗种子，只是花期不同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家长不需要完美，只需要比昨天多懂孩子一点点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「小心逆逆」家长大讲堂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Frankie Tsang 曾仕昭 · 亲子教育顾问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1111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Shenzhen Frankie Z Style Education Technology Co.,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